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1):</a:t>
            </a:r>
          </a:p>
          <a:p/>
          <a:p>
            <a:r>
              <a:t>Beri salam penuh bertenaga! Sapu pandangan ke seluruh 7 meja kluster. Katakan kepada adik-adik ASDAF: 'Hari ini kita bukan nak belajar kuliah universiti yang membosankan. Kita datang nak bersantai, bergelak tawa, dan meneroka rahsia teknologi masa depan bersama abang &amp; kakak UTM!'.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2):</a:t>
            </a:r>
          </a:p>
          <a:p/>
          <a:p>
            <a:r>
              <a:t>Perkenalkan setiap fasilitator meja. Minta setiap mentor meja angkat tangan dan lambaikan tangan kepada adik-adik di meja masing-masing. Wujudkan suasana ceria tanpa rasa kekok.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3):</a:t>
            </a:r>
          </a:p>
          <a:p/>
          <a:p>
            <a:r>
              <a:t>Tanya audiens secara spontan: 'Bila dengar perkataan AI, apa yang terlintas di fikiran adik-adik?'. Tunggu 2-3 jawapan ringkas, kemudian jelaskan dengan perbandingan skrin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4):</a:t>
            </a:r>
          </a:p>
          <a:p/>
          <a:p>
            <a:r>
              <a:t>Aktiviti pentas: Tunjuk gambar perbandingan muffin coklat dan muka anjing chihuahua. Minta murid angkat tangan siapa rasa komputer boleh tersilap. Dewan pasti terhibur bila tahu komputer boleh tertipu dengan muffin coklat.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5):</a:t>
            </a:r>
          </a:p>
          <a:p/>
          <a:p>
            <a:r>
              <a:t>Minta seorang wakil pelajar di Meja 1 sebutkan satu perkataan kegemaran mereka. Penceramah taip secara langsung di skrin projektor. Tunjukkan keajaiban AI menjana ayat puitis dalam sekelip mata.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6):</a:t>
            </a:r>
          </a:p>
          <a:p/>
          <a:p>
            <a:r>
              <a:t>Tunjukkan penjanaan gambar secara langsung menggunakan alatan AI teks-ke-imej di skrin besar. Selitkan mesej etika: Jangan guna AI untuk mengaibkan rakan.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7):</a:t>
            </a:r>
          </a:p>
          <a:p/>
          <a:p>
            <a:r>
              <a:t>Tekankan aspek integriti. Pelajar asrama perlu tahu bahawa AI adalah guru tuisyen percuma yang sabar, tetapi SPM sebenar memerlukan otak dan pena mereka sendiri.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8):</a:t>
            </a:r>
          </a:p>
          <a:p/>
          <a:p>
            <a:r>
              <a:t>Bakar semangat anak-anak ASDAF. Ceritakan kisah inspirasi bagaimana ramai jurutera teknologi berasal dari latar belakang keluarga susah tetapi berjaya menembusi syarikat gergasi.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9):</a:t>
            </a:r>
          </a:p>
          <a:p/>
          <a:p>
            <a:r>
              <a:t>Tanya dewan: 'Siapa pernah dapat mesej macam ni kat WhatsApp mak ayah atau telefon sendiri?'. Beri amaran tegas tentang bahaya klik link sembarangan.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10):</a:t>
            </a:r>
          </a:p>
          <a:p/>
          <a:p>
            <a:r>
              <a:t>Latihan laung dewan beramai-ramai! Penceramah jerit: 'T1!' Dewan balas: 'TIDAK PASTI!' Penceramah: 'T2!' Dewan: 'TIDAK KONGSI!' Penceramah: 'T3!' Dewan: 'TIDAK KLIK!' Jadikan suasana dewan gegak gempita.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11):</a:t>
            </a:r>
          </a:p>
          <a:p/>
          <a:p>
            <a:r>
              <a:t>Ajar teknik gabung 3 perkataan rawak. Minta seorang pelajar reka satu passphrase di depan dewan. Tunjukkan betapa kukuhnya kata laluan tersebut.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12):</a:t>
            </a:r>
          </a:p>
          <a:p/>
          <a:p>
            <a:r>
              <a:t>Peringatan empati dan sentuhan emosi. Terangkan bahawa status TikTok/Instagram yang dipadam masih boleh diambil tangkap layar (screenshot). Jaga maruah diri.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13):</a:t>
            </a:r>
          </a:p>
          <a:p/>
          <a:p>
            <a:r>
              <a:t>Umumkan aktiviti kemuncak! Fasilitator meja segera edarkan kertas mahjong dan bekas marker. Tiup wisel tanda masa 35 minit bermula!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14):</a:t>
            </a:r>
          </a:p>
          <a:p/>
          <a:p>
            <a:r>
              <a:t>Tunjukkan struktur 4 kuadran ini di layar skrin dewan sepanjang masa 35 minit agar semua meja ada panduan visual yang jelas.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15):</a:t>
            </a:r>
          </a:p>
          <a:p/>
          <a:p>
            <a:r>
              <a:t>Cipta debaran dewan! Gunakan muzik latar rancak jika ada. Emcee berdiri di hadapan dewan mengira detik undur. Pemenang naik pentas terus menerima hadiah dan tepukan gemuruh.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PANDUAN &amp; NADA PENCERAMAH (SLAID 16):</a:t>
            </a:r>
          </a:p>
          <a:p/>
          <a:p>
            <a:r>
              <a:t>Kata penutup menyentuh jiwa. Ucapkan terima kasih kepada pengetua, warden, guru ASDAF dan adik-adik semua. Ajak semua dewan berdiri untuk bergambar dan melaungkan slogan UTM x ASDAF!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4AF37"/>
                </a:solidFill>
              </a:defRPr>
            </a:pPr>
            <a:r>
              <a:t>PROGRAM KHIDMAT MASYARAKAT SISWAZAH  •  UTM KL × ASDAF PERKIM</a:t>
            </a:r>
          </a:p>
          <a:p>
            <a:pPr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BENGKEL SANTAI NEXTGEN CELIK DIGITAL 2026</a:t>
            </a:r>
          </a:p>
          <a:p>
            <a:pPr>
              <a:defRPr sz="2000" b="1">
                <a:solidFill>
                  <a:srgbClr val="0EA5E9"/>
                </a:solidFill>
              </a:defRPr>
            </a:pPr>
            <a:r>
              <a:t>“LITERASI TEKNOLOGI &amp; KESEDARAN KECERDASAN BUATAN (AI)”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2514600" cy="77724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8A1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A1C34"/>
                </a:solidFill>
              </a:defRPr>
            </a:pPr>
            <a:r>
              <a:t>46 PELAJAR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Tingkatan 1–5 &amp; PPKI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926080"/>
            <a:ext cx="2514600" cy="77724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EA5E9"/>
                </a:solidFill>
              </a:defRPr>
            </a:pPr>
            <a:r>
              <a:t>7 MEJA KLUSTER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Fasilitator Berdedikasi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26080"/>
            <a:ext cx="2514600" cy="77724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4AF37"/>
                </a:solidFill>
              </a:defRPr>
            </a:pPr>
            <a:r>
              <a:t>13 KRU UTM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Mahasiswa Komputeran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2926080"/>
            <a:ext cx="2514600" cy="77724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SIFAR GAJET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Interaktif Tanpa Telefon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5120640" cy="22860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8A1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D4AF37"/>
                </a:solidFill>
              </a:defRPr>
            </a:pPr>
            <a:r>
              <a:t>MAKLUMAT PENCERAMAH &amp; SESI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Penceramah: Muhamad Arif bin Johar (DevOps Engineer)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Penganjur: Universiti Teknologi Malaysia (UTM KL)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Lokasi: Asrama Darul Falah (ASDAF) PERKIM, Bukit Persekutuan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Tarikh: Sabtu, 12 September 2026  (8:30 AM – 12:00 PM)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120640" cy="22860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EA5E9"/>
                </a:solidFill>
              </a:defRPr>
            </a:pPr>
            <a:r>
              <a:t>3 MISI UTAMA HARI INI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✔ 1. Bongkar Kuasa AI: Kenal alat pintar &amp; bagaimana ia berfikir.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✔ 2. Kebal Serangan Siber: Kuasai Formula 3T lawan scammer.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✔ 3. Startup Sprint Meja: Cipta idea inovasi di kertas mahjong!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02 / 16  •  PENGENALAN PASUKAN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Siapakah Kami? Abang &amp; Kakak Fakulti Komputeran UTM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Mahasiswa universiti yang datang untuk menjadi rakan mentor &amp; penyokong impian anda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8A1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8A1C34"/>
                </a:solidFill>
              </a:defRPr>
            </a:pPr>
            <a:r>
              <a:t>1. PENCERAMAH &amp; LEAD TRAINER</a:t>
            </a:r>
          </a:p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Muhamad Arif bin Johar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Membimbing konsep AI, demo langsung di skrin pentas, dan kuiz interaktif dewan.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0EA5E9"/>
                </a:solidFill>
              </a:defRPr>
            </a:pPr>
            <a:r>
              <a:t>2. 7 MENTOR MEJA KLUSTER</a:t>
            </a:r>
          </a:p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Fasilitator Berdedikasi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Duduk bersama adik-adik di setiap meja (Meja 1–7), memandu sesi amali dan perbincangan.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512064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3. SOKONGAN KHAS PPKI</a:t>
            </a:r>
          </a:p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Bimbingan Inklusif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Memberi perhatian mesra dan sokongan khas untuk rakan-rakan Pendidikan Khas.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74720"/>
            <a:ext cx="512064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D4AF37"/>
                </a:solidFill>
              </a:defRPr>
            </a:pPr>
            <a:r>
              <a:t>4. KRU LOGISTIK &amp; HADIAH</a:t>
            </a:r>
          </a:p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Pengurusan Acara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Menjaga masa, menyalurkan kertas mahjong, marker pelbagai warna, dan menyediakan hadiah.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💬 PESANAN MESRA: Anggap abang &amp; kakak UTM sebagai kawan. Jangan takut bertanya, tiada soalan yang bodoh hari ini!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03 / 16  •  MODUL 1: ASAS KECERDASAN BUATAN (AI)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Apakah Itu AI Sebenarnya? Robot Jahat atau Pembantu Pintar?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Membongkar mitos filem sains fiksyen vs aplikasi teknologi dalam kehidupan sebenar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475488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MITOS FILEM SAINS FIKSYEN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Robot Terminator bersenjata nak kuasai bumi.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Komputer ada emosi jahat nak musnahkan manusia.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Teknologi misteri magik yang tiada siapa faham.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Persepsi menakutkan yang sengaja dicipta di pawagam.</a:t>
            </a:r>
          </a:p>
        </p:txBody>
      </p:sp>
      <p:sp>
        <p:nvSpPr>
          <p:cNvPr id="8" name="Oval 7"/>
          <p:cNvSpPr/>
          <p:nvPr/>
        </p:nvSpPr>
        <p:spPr>
          <a:xfrm>
            <a:off x="5760720" y="2926080"/>
            <a:ext cx="731520" cy="731520"/>
          </a:xfrm>
          <a:prstGeom prst="ellipse">
            <a:avLst/>
          </a:prstGeom>
          <a:solidFill>
            <a:srgbClr val="D4AF3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0F1D"/>
                </a:solidFill>
              </a:defRPr>
            </a:pPr>
            <a: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463040"/>
            <a:ext cx="475488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REALITI SEBENAR AI HARI INI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Google Maps / Waze: Kira jalan terpantas elak jam.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TikTok &amp; YouTube: Cadang video ikut minat korang.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Pengecaman Wajah: Buka skrin telefon guna muka.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Program Matematik yang belajar mengecam corak data manusia untuk mudahkan kerja!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86400"/>
            <a:ext cx="10607040" cy="640080"/>
          </a:xfrm>
          <a:prstGeom prst="roundRect">
            <a:avLst/>
          </a:prstGeom>
          <a:solidFill>
            <a:srgbClr val="1C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4AF37"/>
                </a:solidFill>
              </a:defRPr>
            </a:pPr>
            <a:r>
              <a:t>🗣️ SOALAN AUDIENS: 'Siapa pernah guna Waze atau tengok cadangan video YouTube? Itulah bukti korang dah guna AI setiap hari!'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04 / 16  •  MODUL 1: BAGAIMANA AI BERFIKIR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Ujian Minda AI: Komputer vs Mata Manusia (Kucing vs Chihuahua Muffin)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Bagaimana algoritma mengenali objek dan kenapa komputer boleh tertipu?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2918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EA5E9"/>
                </a:solidFill>
              </a:defRPr>
            </a:pPr>
            <a:r>
              <a:t>LANGKAH 1: DATA MASUK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Komputer tak ada mata biologi macam manusia.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Komputer cuma nampak nombor piksel (0 dan 1).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Ia disuap dengan 10,000+ contoh gambar kucing.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2918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D4AF37"/>
                </a:solidFill>
              </a:defRPr>
            </a:pPr>
            <a:r>
              <a:t>LANGKAH 2: CARI CORAK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AI menganalisis corak: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  - Bentuk telinga tiga segi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  - Misai panjang kiri kanan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  - Warna mata dan hidung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Daripada corak itu, ia bina 'Formula Tekaan'.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38328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LANGKAH 3: AI BOLEH KELIRU!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Ujian Klasik Muffin vs Chihuahua: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Muffin ada 3 titik coklat (nampak macam 2 mata &amp; 1 hidung anjing!).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Komputer boleh keliru 50%!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• Kelebihan Manusia: Kita ada akal fikiran dan konteks sebenar.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🎯 PUNCHLINE: AI sangat laju mengira nombor, tapi manusia jauh lebih hebat berfikir dan memahami dunia!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05 / 16  •  MODUL 1: DEMONSTRASI LANGSUNG AI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Eksperimen Dewan: Mengarang Pantun Bersama ChatGPT / Gemini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Melihat bagaimana AI memahami arahan bahasa Melayu dalam masa nyata (Live Demo)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10515600" cy="1188720"/>
          </a:xfrm>
          <a:prstGeom prst="roundRect">
            <a:avLst/>
          </a:prstGeom>
          <a:solidFill>
            <a:srgbClr val="1C2B4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👤 PROMPT PELAJAR (ARAHAN KEPADA AI):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“Wahai AI, tolong tuliskan 2 rangkap pantun 4 kerat bertemakan semangat anak-anak asrama ASDAF Bukit Persekutuan menuntut ilmu dan celik teknologi!”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10515600" cy="24688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/>
          <a:lstStyle/>
          <a:p>
            <a:pPr algn="ctr">
              <a:spcAft>
                <a:spcPts val="600"/>
              </a:spcAft>
              <a:defRPr sz="1100" b="1">
                <a:solidFill>
                  <a:srgbClr val="D4AF37"/>
                </a:solidFill>
              </a:defRPr>
            </a:pPr>
            <a:r>
              <a:t>🤖 JAWAPAN SPONTAN AI (DALAM MASA 3 SAAT):</a:t>
            </a:r>
          </a:p>
          <a:p>
            <a:pPr>
              <a:defRPr sz="1250" b="1">
                <a:solidFill>
                  <a:srgbClr val="F1F5F9"/>
                </a:solidFill>
              </a:defRPr>
            </a:pPr>
            <a:r>
              <a:t>Pergi ke kedai membeli laksa,   Singgah sebentar di Bukit Persekutuan;</a:t>
            </a:r>
          </a:p>
          <a:p>
            <a:pPr>
              <a:defRPr sz="1250" b="1">
                <a:solidFill>
                  <a:srgbClr val="F1F5F9"/>
                </a:solidFill>
              </a:defRPr>
            </a:pPr>
            <a:r>
              <a:t>Anak ASDAF hebat perkasa,       Celik digital peneraju masa depan!</a:t>
            </a:r>
          </a:p>
          <a:p>
            <a:pPr>
              <a:defRPr sz="1250" b="0">
                <a:solidFill>
                  <a:srgbClr val="94A3B8"/>
                </a:solidFill>
              </a:defRPr>
            </a:pPr>
          </a:p>
          <a:p>
            <a:pPr>
              <a:defRPr sz="1250" b="1">
                <a:solidFill>
                  <a:srgbClr val="F1F5F9"/>
                </a:solidFill>
              </a:defRPr>
            </a:pPr>
            <a:r>
              <a:t>Kain songket cantik terbentang, Tenunan indah warisan bangsa;</a:t>
            </a:r>
          </a:p>
          <a:p>
            <a:pPr>
              <a:defRPr sz="1250" b="1">
                <a:solidFill>
                  <a:srgbClr val="F1F5F9"/>
                </a:solidFill>
              </a:defRPr>
            </a:pPr>
            <a:r>
              <a:t>Semangat belajar setinggi bintang,  Bakal jurutera membina nusa.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💡 FORMULA PROMPT: Semakin jelas dan terperinci arahan yang kita berikan, semakin hebat dan tepat jawapan AI!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06 / 16  •  MODUL 1: DEMONSTRASI SENI VISUAL AI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Dari Teks Menjadi Gambar 4K: Canva Magic Media &amp; DALL-E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Menzahirkan imaginasi paling liar menjadi karya seni digital dalam 5 saat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0EA5E9"/>
                </a:solidFill>
              </a:defRPr>
            </a:pPr>
            <a:r>
              <a:t>LANGKAH 1: IMAGINASI LIAR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Murid Meja 4 beri idea spontan:</a:t>
            </a:r>
          </a:p>
          <a:p>
            <a:pPr>
              <a:defRPr sz="1150">
                <a:solidFill>
                  <a:srgbClr val="F1F5F9"/>
                </a:solidFill>
              </a:defRPr>
            </a:pPr>
            <a:r>
              <a:t>“Harimau Malaya memakai jersi sukan UTM bermain bola sepak di stesen angkasa lepas!”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A855F7"/>
                </a:solidFill>
              </a:defRPr>
            </a:pPr>
            <a:r>
              <a:t>LANGKAH 2: PROZES PIKSEL AI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AI menterjemah teks ke visual:</a:t>
            </a:r>
          </a:p>
          <a:p>
            <a:pPr>
              <a:defRPr sz="1150">
                <a:solidFill>
                  <a:srgbClr val="F1F5F9"/>
                </a:solidFill>
              </a:defRPr>
            </a:pPr>
            <a:r>
              <a:t>Algoritma menyusun corak bulu harimau, warna merah UTM, sfera bumi bercahaya &amp; stadium bintang.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38328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LANGKAH 3: HASIL KARYA 4K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Terjana dalam 5 saat:</a:t>
            </a:r>
          </a:p>
          <a:p>
            <a:pPr>
              <a:defRPr sz="1150">
                <a:solidFill>
                  <a:srgbClr val="F1F5F9"/>
                </a:solidFill>
              </a:defRPr>
            </a:pPr>
            <a:r>
              <a:t>Poster definisi tinggi sedia digunakan untuk logo kelab, buku komik, atau animasi sekolah!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A0F1D"/>
                </a:solidFill>
              </a:defRPr>
            </a:pPr>
            <a:r>
              <a:t>🎨 ETIKA VISUAL: AI adalah alatan meluahkan kreativiti — jangan sekali-kali cipta gambar palsu (deepfake) yang fitnah orang lain!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07 / 16  •  MODUL 1: RAKAN BELAJAR PELAJAR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AI Sebagai Guru Tuisyen Peribadi 24 Jam: Boleh vs Jangan!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Cara bijak memanfaatkan AI untuk peperiksaan SPM/PT3 tanpa hilang kejujuran ilmu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✔ CARA TERBAIK GUNA AI (BOLEH!)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Terangkan soalan Matematik sukar langkah demi langkah.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Semak ejaan, tatabahasa &amp; kosa kata Bahasa Inggeris.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Bina jadual ulang kaji harian menjelang peperiksaan.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Beri kuiz latihan dan tanya soalan tanpa rasa segan.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EF4444"/>
                </a:solidFill>
              </a:defRPr>
            </a:pPr>
            <a:r>
              <a:t>❌ PANTANG LARANG KERAS (JANGAN!)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Copy-paste bulat-bulat karangan atau jawapan kerja sekolah.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Malas berfikir dan harap AI buat semua kerja rumah.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Percaya 100% tanpa semak buku teks (AI boleh berhalusinasi).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❌ Menipu cikgu dan diri sendiri — otak manusia mesti dilatih!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🧠 PESANAN INTEGRITI: 'AI patut buat otak kita makin pintar, bukan buat kita jadi malas berfikir!'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08 / 16  •  MODUL 1: IMPIAN &amp; MASA DEPAN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Peluang Hebat Bidang Digital: Di Mana Tempat Anak ASDAF?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5 Bidang Kerjaya Gaji Lumayan yang Tidak Memandang Latar Belakang Keturunan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150" b="1">
                <a:solidFill>
                  <a:srgbClr val="A855F7"/>
                </a:solidFill>
              </a:defRPr>
            </a:pPr>
            <a:r>
              <a:t>1. PEREKA GAME &amp; ANIMASI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Gaji Permulaan: RM4,000 - RM8,000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Mencipta dunia permainan Roblox, Mobile Legends, dan animasi 3D kegemaran ramai.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150" b="1">
                <a:solidFill>
                  <a:srgbClr val="0EA5E9"/>
                </a:solidFill>
              </a:defRPr>
            </a:pPr>
            <a:r>
              <a:t>2. JURUTERA AI &amp; DATA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Gaji Permulaan: RM5,000 - RM10,000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Membina model kecerdasan buatan untuk meramal cuaca, kewangan, dan sistem kesihatan.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38328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150" b="1">
                <a:solidFill>
                  <a:srgbClr val="EF4444"/>
                </a:solidFill>
              </a:defRPr>
            </a:pPr>
            <a:r>
              <a:t>3. PEJUANG SIBER (ETHICAL HACKER)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Gaji Permulaan: RM4,500 - RM9,000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Mempertahankan sistem perbankan negara dan laman web kerajaan daripada penjenayah siber.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74720"/>
            <a:ext cx="516636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4. JURUTERA DRON &amp; PERTANIAN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Gaji Permulaan: RM4,000 - RM7,500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Mengemudi dron pintar untuk menyembur baja dan memantau ladang sawit secara automatik.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474720"/>
            <a:ext cx="5166360" cy="182880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200" b="1">
                <a:solidFill>
                  <a:srgbClr val="D4AF37"/>
                </a:solidFill>
              </a:defRPr>
            </a:pPr>
            <a:r>
              <a:t>5. CLOUD &amp; DEVOPS ENGINEER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Gaji Permulaan: RM5,000 - RM11,000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Menjaga pelayan internet gergasi supaya Instagram, WhatsApp &amp; Shopee berjalan 24 jam.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🌟 MOTIVASI: 'Dunia IT tidak tanya kita anak siapa atau dari mana asal kita. Ia tanya kemahiran dan minat kita!'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09 / 16  •  MODUL 2: KESELAMATAN SIBER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Dunia Gelap Internet: Jerat Scam, Phishing &amp; Hadiah Palsu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Bagaimana penjenayah siber memancing data peribadi dan duit keluarga kita?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3840480"/>
          </a:xfrm>
          <a:prstGeom prst="roundRect">
            <a:avLst/>
          </a:prstGeom>
          <a:solidFill>
            <a:srgbClr val="230F1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⚠️ CONTOH MESEJ WHATSAPP JERAT SCAM:</a:t>
            </a:r>
          </a:p>
          <a:p>
            <a:pPr>
              <a:spcAft>
                <a:spcPts val="1000"/>
              </a:spcAft>
              <a:defRPr sz="1200" b="1">
                <a:solidFill>
                  <a:srgbClr val="FECACA"/>
                </a:solidFill>
              </a:defRPr>
            </a:pPr>
            <a:r>
              <a:t>“Tahniah! Nombor telefon anda telah dicabut bertuah memenangi RM10,000 TUNAI dari Shopee Sempena Hari Kemerdekaan! Sila klik pautan bit.ly/claim-wang-sekarang dan masukkan kata laluan untuk sahkan akaun dalam masa 10 MINIT sebelum hadiah dibatalkan!”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Akibat Jika Klik: Penggodam curi akaun media sosial, curi duit simpanan ibu bapa, dan sebar gambar peribadi!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🚩 3 TANDA-TANDA JERAT SCAMMER</a:t>
            </a:r>
          </a:p>
          <a:p>
            <a:pPr>
              <a:spcAft>
                <a:spcPts val="1000"/>
              </a:spcAft>
              <a:defRPr sz="1200">
                <a:solidFill>
                  <a:srgbClr val="F1F5F9"/>
                </a:solidFill>
              </a:defRPr>
            </a:pPr>
            <a:r>
              <a:t>1. Janji Wang Percuma / Hadiah Gila: Mana ada orang bagi RM10,000 suka-suka tanpa usaha!</a:t>
            </a:r>
          </a:p>
          <a:p>
            <a:pPr>
              <a:spcAft>
                <a:spcPts val="1000"/>
              </a:spcAft>
              <a:defRPr sz="1200">
                <a:solidFill>
                  <a:srgbClr val="F1F5F9"/>
                </a:solidFill>
              </a:defRPr>
            </a:pPr>
            <a:r>
              <a:t>2. Cipta Suasana Panik: 'Cepat! 10 minit lagi akaun disekat!' — Scammer nak mangsa bertindak tanpa fikir.</a:t>
            </a:r>
          </a:p>
          <a:p>
            <a:pPr>
              <a:spcAft>
                <a:spcPts val="1000"/>
              </a:spcAft>
              <a:defRPr sz="1200">
                <a:solidFill>
                  <a:srgbClr val="F1F5F9"/>
                </a:solidFill>
              </a:defRPr>
            </a:pPr>
            <a:r>
              <a:t>3. Minta Kata Laluan / OTP: Pihak bank dan guru takkan pernah minta OTP atau password anda!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🚨 INGAT: Bila nampak tawaran terlalu manis untuk dipercayai, 99.9% adalah PENIPUAN SIBER!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10 / 16  •  MODUL 2: FORMULA PERTAHANAN DIRI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Formula Emas 3T: Senjata Utama Menewaskan Scammer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Hafal 3 peraturan ini untuk melindungi diri, keluarga dan rakan-rakan seumur hidup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8A1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8A1C34"/>
                </a:solidFill>
              </a:defRPr>
            </a:pPr>
            <a:r>
              <a:t>T1: TIDAK PASTI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Siasat Dulu!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Jangan mudah percaya pemanggil misteri atau mesej hadiah.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Rujuk warden, guru, atau ibu bapa sebelum buat sebarang tindakan.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Sikap sangsi yang bijak adalah perisai terbaik anda.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D4AF37"/>
                </a:solidFill>
              </a:defRPr>
            </a:pPr>
            <a:r>
              <a:t>T2: TIDAK KONGSI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Kunci Rahsia!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Jangan sesekali beri kata laluan, nombor IC, atau kod OTP.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Kata laluan adalah seperti berus gigi peribadi — jangan kongsi!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Simpan maklumat keluarga dengan cermat.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38328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T3: TIDAK KLIK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Jangan Tekan!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Jangan tekan sebarang pautan biru yang mencurigakan di WhatsApp/SMS.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Bila ragu-ragu, terus padam dan sekat (block) nombor tersebut.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Satu klik salah boleh membuka pintu kepada penggodam.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0F1D"/>
                </a:solidFill>
              </a:defRPr>
            </a:pPr>
            <a:r>
              <a:t>📞 TALIAN KECEMASAN SCAM KEBANGSAAN: 997 (NSRC) — Hubungi dalam 24 jam jika terkena scam!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11 / 16  •  MODUL 2: KESELAMATAN AKAUN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Rahsia Kata Laluan Kebal: Password vs Passphrase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Berapa lama masa yang diperlukan oleh komputer penggodam untuk memecah masuk?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❌ KATA LALUAN LEMAH (MUDAH HACK)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'12345678' ➔ Hack dalam 0.0001 Saat!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'asdaf2026' ➔ Hack dalam 0.02 Saat!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'kucingcomel' ➔ Hack dalam 2 Saat!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'Tarikh Lahir' ➔ Hack dalam Kurang 1 Saat!</a:t>
            </a:r>
          </a:p>
          <a:p>
            <a:pPr>
              <a:defRPr sz="1100" i="1">
                <a:solidFill>
                  <a:srgbClr val="94A3B8"/>
                </a:solidFill>
              </a:defRPr>
            </a:pPr>
            <a:r>
              <a:t>Penggodam guna 'Dictionary Attack' yang menguji jutaan perkataan lazim dalam sekelip mata!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✔ TEKNIK PASSPHRASE KEBAL</a:t>
            </a:r>
          </a:p>
          <a:p>
            <a:pPr>
              <a:spcAft>
                <a:spcPts val="600"/>
              </a:spcAft>
              <a:defRPr sz="1200" b="1">
                <a:solidFill>
                  <a:srgbClr val="EBCD78"/>
                </a:solidFill>
              </a:defRPr>
            </a:pPr>
            <a:r>
              <a:t>• 'KopiPanasTumpah99!' ➔ Perlu 10,000 TAHUN!</a:t>
            </a:r>
          </a:p>
          <a:p>
            <a:pPr>
              <a:spcAft>
                <a:spcPts val="600"/>
              </a:spcAft>
              <a:defRPr sz="1200" b="1">
                <a:solidFill>
                  <a:srgbClr val="EBCD78"/>
                </a:solidFill>
              </a:defRPr>
            </a:pPr>
            <a:r>
              <a:t>• 'HarimauLompatPagar!' ➔ Perlu 400 JUTA TAHUN!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1. Gabung 3–4 perkataan rawak menjadi satu ayat rahsia.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2. Selitkan nombor dan simbol unik (!, @, #).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3. Aktifkan 2FA (Pengesahan 2-Faktor) di akaun media sosial.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🔐 PETUA: Buat ayat pelik yang senang anda ingat tapi mustahil diteka oleh orang lain!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12 / 16  •  MODUL 2: ETIKA DIGITAL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Jejak Digital: Internet Tidak Pernah Lupa!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Sebelum menekan butang 'POST' atau 'SEND' di media sosial, amalkan formula T-H-I-N-K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1993392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/>
          <a:lstStyle/>
          <a:p>
            <a:pPr algn="ctr">
              <a:defRPr sz="3600" b="1">
                <a:solidFill>
                  <a:srgbClr val="0EA5E9"/>
                </a:solidFill>
              </a:defRPr>
            </a:pPr>
            <a:r>
              <a:t>T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TRUE</a:t>
            </a:r>
          </a:p>
          <a:p>
            <a:pPr>
              <a:spcAft>
                <a:spcPts val="600"/>
              </a:spcAft>
              <a:defRPr sz="1050" b="1">
                <a:solidFill>
                  <a:srgbClr val="0EA5E9"/>
                </a:solidFill>
              </a:defRPr>
            </a:pPr>
            <a:r>
              <a:t>Adakah ini benar?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Jangan sebar berita palsu atau khabar angin yang belum disahkan.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1463040"/>
            <a:ext cx="1993392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/>
          <a:lstStyle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H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HELPFUL</a:t>
            </a:r>
          </a:p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</a:defRPr>
            </a:pPr>
            <a:r>
              <a:t>Adakah ia membantu?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Adakah perkongsian ini memberi manfaat kepada orang yang membacanya?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463040"/>
            <a:ext cx="1993392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/>
          <a:lstStyle/>
          <a:p>
            <a:pPr algn="ctr">
              <a:defRPr sz="3600" b="1">
                <a:solidFill>
                  <a:srgbClr val="D4AF37"/>
                </a:solidFill>
              </a:defRPr>
            </a:pPr>
            <a:r>
              <a:t>I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INSPIRING</a:t>
            </a:r>
          </a:p>
          <a:p>
            <a:pPr>
              <a:spcAft>
                <a:spcPts val="600"/>
              </a:spcAft>
              <a:defRPr sz="1050" b="1">
                <a:solidFill>
                  <a:srgbClr val="D4AF37"/>
                </a:solidFill>
              </a:defRPr>
            </a:pPr>
            <a:r>
              <a:t>Adakah ia memberi inspirasi?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Gunakan media sosial untuk membakar semangat kejayaan, bukan merendahkan orang.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4616" y="1463040"/>
            <a:ext cx="1993392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/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N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NECESSARY</a:t>
            </a:r>
          </a:p>
          <a:p>
            <a:pPr>
              <a:spcAft>
                <a:spcPts val="600"/>
              </a:spcAft>
              <a:defRPr sz="1050" b="1">
                <a:solidFill>
                  <a:srgbClr val="F59E0B"/>
                </a:solidFill>
              </a:defRPr>
            </a:pPr>
            <a:r>
              <a:t>Adakah ia benar-benar perlu?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Adakah aib atau masalah peribadi anda perlu diketahui oleh seluruh dunia?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5168" y="1463040"/>
            <a:ext cx="1993392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/>
          <a:lstStyle/>
          <a:p>
            <a:pPr algn="ctr">
              <a:defRPr sz="3600" b="1">
                <a:solidFill>
                  <a:srgbClr val="A855F7"/>
                </a:solidFill>
              </a:defRPr>
            </a:pPr>
            <a:r>
              <a:t>K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KIND</a:t>
            </a:r>
          </a:p>
          <a:p>
            <a:pPr>
              <a:spcAft>
                <a:spcPts val="600"/>
              </a:spcAft>
              <a:defRPr sz="1050" b="1">
                <a:solidFill>
                  <a:srgbClr val="A855F7"/>
                </a:solidFill>
              </a:defRPr>
            </a:pPr>
            <a:r>
              <a:t>Adakah ayat ini berbudi bahasa?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Hapuskan buli siber. Perkataan yang baik adalah sedekah.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👣 PERINGATAN: Majikan &amp; penemuduga universiti akan cari nama korang di internet 5 tahun lagi!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13 / 16  •  MODUL 2: LATIHAN KUMPULAN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Masa Menjadi Pencipta: Bengkel Startup Sprint Kertas Mahjong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7 Meja Kluster kini bertukar menjadi 7 Syarikat Pemula Teknologi Muda ASDAF!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D4AF37"/>
                </a:solidFill>
              </a:defRPr>
            </a:pPr>
            <a:r>
              <a:t>🎯 MISI SETIAP MEJA (SYARIKAT ANDA)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Pilih 1 masalah sebenar di asrama ASDAF atau sekolah.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Cipta 1 idea inovasi AI untuk selesaikan masalah tersebut.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Lakar dan lukis poster di atas kertas mahjong bersama.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✔ Pilih 2 jurucakap meja untuk membentang di hadapan dewan!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0EA5E9"/>
                </a:solidFill>
              </a:defRPr>
            </a:pPr>
            <a:r>
              <a:t>📦 PERALATAN &amp; MASA AKTIVITI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Bahan: Kertas mahjong, marker pelbagai warna, sticky notes.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Masa Perbincangan Meja: 35 Minit padat.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Masa Pitching Pentas: 2 Minit setiap meja!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Bimbingan Penuh: Mentor meja sedia membantu lakaran dan idea.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0F1D"/>
                </a:solidFill>
              </a:defRPr>
            </a:pPr>
            <a:r>
              <a:t>🏆 HADIAH KUMPULAN: Meja dengan idea paling kreatif dan pembentangan paling bertenaga akan bawa pulang HAMPER JUARA!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14 / 16  •  MODUL 2: PANDUAN AMALI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Format Kertas Mahjong: 4 Kotak Emas Poster Inovasi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Bahagikan kertas mahjong kepada 4 kuadran ringkas, jelas dan berwarna-warni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182880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KOTAK 1: IDENTITI &amp; LOGO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Nama Syarikat &amp; Logo Inovasi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Nama aplikasi / robot AI ciptaan meja anda.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Lukis logo ringkas &amp; moto syarikat yang menarik.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182880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EF4444"/>
                </a:solidFill>
              </a:defRPr>
            </a:pPr>
            <a:r>
              <a:t>KOTAK 2: MASALAH SEBENAR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Apa Isu Yang Hendak Diselesaikan?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Contoh: Pembaziran makanan di dewan makan.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Contoh: Terlupa waktu solat / susah bangun pagi.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5120640" cy="182880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EA5E9"/>
                </a:solidFill>
              </a:defRPr>
            </a:pPr>
            <a:r>
              <a:t>KOTAK 3: CARA TEKNOLOGI BERFUNGSI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Bagaimana AI Membantu?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Lukis carta aliran atau rajah mudah alatan AI.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Contoh: Kamera sensor AI kesan sisa makanan.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74720"/>
            <a:ext cx="5120640" cy="182880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KOTAK 4: KEBAIKAN &amp; IMPAK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Manfaat Kepada Warga ASDAF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Asrama jadi lebih bersih dan jimat kos.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Pelajar lebih berdisiplin dan gembira.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0F1D"/>
                </a:solidFill>
              </a:defRPr>
            </a:pPr>
            <a:r>
              <a:t>⏱️ SYARAT PITCHING: 2 Minit Pembentangan Pentas • Semua ahli kumpulan naik sokong 2 orang pembentang utama!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15 / 16  •  CABARAN KUIZ DEWAN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Fast-Answer Tech Showdown: Pertarungan Kuiz Pantas!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Mekanik Sifar Gajet: Mata pada skrin, tangan atas meja! '3... 2... 1... ANGKAT TANGAN!'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6858000" cy="3840480"/>
          </a:xfrm>
          <a:prstGeom prst="roundRect">
            <a:avLst/>
          </a:prstGeom>
          <a:solidFill>
            <a:srgbClr val="131E36"/>
          </a:solidFill>
          <a:ln w="317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D4AF37"/>
                </a:solidFill>
              </a:defRPr>
            </a:pPr>
            <a:r>
              <a:t>⚡ 5 SOALAN REBUTAN HADIAH SEGERA: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SOALAN 1: Apakah maksud singkatan AI dalam bahasa Melayu dan Inggeris?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SOALAN 2: Mesej menang RM10,000 dari nombor misteri dinamakan apa?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SOALAN 3: Apakah Formula 3T untuk menewaskan scammer?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SOALAN 4: Manakah lebih kebal: Password 'asdaf2026' atau Passphrase?</a:t>
            </a:r>
          </a:p>
          <a:p>
            <a:pPr>
              <a:spcAft>
                <a:spcPts val="600"/>
              </a:spcAft>
              <a:defRPr sz="1150">
                <a:solidFill>
                  <a:srgbClr val="F1F5F9"/>
                </a:solidFill>
              </a:defRPr>
            </a:pPr>
            <a:r>
              <a:t>SOALAN 5: Apakah nombor talian kecemasan scam NSRC kebangsaan?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383280" cy="3840480"/>
          </a:xfrm>
          <a:prstGeom prst="roundRect">
            <a:avLst/>
          </a:prstGeom>
          <a:solidFill>
            <a:srgbClr val="1E192D"/>
          </a:solidFill>
          <a:ln w="317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855F7"/>
                </a:solidFill>
              </a:defRPr>
            </a:pPr>
            <a:r>
              <a:t>🎁 HADIAH MENANTI!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5 Pemenang Kuiz Pantas!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Hadiah Berguna Asrama: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  • Pendrive 64GB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  • Kipas Meja USB Boleh Cas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  • Lampu Belajar LED USB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  • Botol Termos Digital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  • Set Pen Morandi &amp; Nota</a:t>
            </a:r>
          </a:p>
          <a:p>
            <a:pPr>
              <a:spcAft>
                <a:spcPts val="400"/>
              </a:spcAft>
              <a:defRPr sz="1050">
                <a:solidFill>
                  <a:srgbClr val="F1F5F9"/>
                </a:solidFill>
              </a:defRPr>
            </a:pPr>
            <a:r>
              <a:t>Siapa pantas &amp; tepat terus bawa pulang hadiah ke meja!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🚨 PERATURAN SHOWDOWN: Emcee kira 3, 2, 1 ANGKAT TANGAN! Mentor meja tolong tengok siapa paling pantas di meja anda!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4AF37"/>
                </a:solidFill>
              </a:defRPr>
            </a:pPr>
            <a:r>
              <a:t>SLAID 16 / 16  •  MAJLIS PENUTUP &amp; JAMUAN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Masa Depan Bermula Hari Ini: Terima Kasih ASDAF PERKIM!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Semoga ilmu yang dikongsi menjadi pemangkin kejayaan dan pembakar semangat anak-anak ASDAF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120640" cy="3840480"/>
          </a:xfrm>
          <a:prstGeom prst="roundRect">
            <a:avLst/>
          </a:prstGeom>
          <a:solidFill>
            <a:srgbClr val="131E36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0EA5E9"/>
                </a:solidFill>
              </a:defRPr>
            </a:pPr>
            <a:r>
              <a:t>📋 3 TINDAKAN AKHIR SEBELUM BERSURAI:</a:t>
            </a:r>
          </a:p>
          <a:p>
            <a:pPr>
              <a:spcAft>
                <a:spcPts val="1000"/>
              </a:spcAft>
              <a:defRPr sz="1200">
                <a:solidFill>
                  <a:srgbClr val="F1F5F9"/>
                </a:solidFill>
              </a:defRPr>
            </a:pPr>
            <a:r>
              <a:t>1. Lengkapkan Borang Post-Survey (Bahagian 2 di bawah kertas survey anda) dan tulis komen ikhlas.</a:t>
            </a:r>
          </a:p>
          <a:p>
            <a:pPr>
              <a:spcAft>
                <a:spcPts val="1000"/>
              </a:spcAft>
              <a:defRPr sz="1200">
                <a:solidFill>
                  <a:srgbClr val="F1F5F9"/>
                </a:solidFill>
              </a:defRPr>
            </a:pPr>
            <a:r>
              <a:t>2. Penyampaian Hadiah Juara Meja &amp; Cenderamata Rasmi UTM kepada Pengurusan ASDAF PERKIM.</a:t>
            </a:r>
          </a:p>
          <a:p>
            <a:pPr>
              <a:spcAft>
                <a:spcPts val="1000"/>
              </a:spcAft>
              <a:defRPr sz="1200">
                <a:solidFill>
                  <a:srgbClr val="F1F5F9"/>
                </a:solidFill>
              </a:defRPr>
            </a:pPr>
            <a:r>
              <a:t>3. Sesi Bergambar Kenangan Bersama &amp; Jamuan Makan Tengah Hari Nasi Berlauk di Dewan Makan.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3840480"/>
          </a:xfrm>
          <a:prstGeom prst="roundRect">
            <a:avLst/>
          </a:prstGeom>
          <a:solidFill>
            <a:srgbClr val="191423"/>
          </a:solidFill>
          <a:ln w="317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D4AF37"/>
                </a:solidFill>
              </a:defRPr>
            </a:pPr>
            <a:r>
              <a:t>🌟 PESANAN ABANG &amp; KAKAK UTM: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“Jangan biarkan keterbatasan semalam menghalang impian esok hari.”</a:t>
            </a:r>
          </a:p>
          <a:p>
            <a:pPr>
              <a:spcAft>
                <a:spcPts val="1400"/>
              </a:spcAft>
              <a:defRPr sz="1300" b="1">
                <a:solidFill>
                  <a:srgbClr val="EBCD78"/>
                </a:solidFill>
              </a:defRPr>
            </a:pPr>
            <a:r>
              <a:t>“Kuasai teknologi, pelihara adab, dan buktikan anak-anak ASDAF mampu menggegarkan persada negara!”</a:t>
            </a:r>
          </a:p>
          <a:p>
            <a:pPr>
              <a:defRPr sz="1100" i="1">
                <a:solidFill>
                  <a:srgbClr val="94A3B8"/>
                </a:solidFill>
              </a:defRPr>
            </a:pPr>
            <a:r>
              <a:t>— Mahasiswa Fakulti Komputeran Universiti Teknologi Malaysia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86400"/>
            <a:ext cx="10515600" cy="640080"/>
          </a:xfrm>
          <a:prstGeom prst="roundRect">
            <a:avLst/>
          </a:prstGeom>
          <a:solidFill>
            <a:srgbClr val="8A1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🎓 JUMPA LAGI DI MENARA GADING UNIVERSITI TEKNOLOGI MALAYSIA! TERIMA KASIH ASDAF!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Bengkel Santai NextGen Celik Digital 2026  |  UTM KL × ASDAF PERKIM                                             Slaid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